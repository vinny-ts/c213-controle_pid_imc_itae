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78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18288000" cy="10287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 snapToObjects="1">
      <p:cViewPr varScale="1">
        <p:scale>
          <a:sx n="57" d="100"/>
          <a:sy n="57" d="100"/>
        </p:scale>
        <p:origin x="590" y="4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7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6400800" cy="10287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age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0"/>
            <a:ext cx="11887200" cy="10287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6400800" y="0"/>
            <a:ext cx="11887200" cy="10287000"/>
          </a:xfrm>
          <a:prstGeom prst="rect">
            <a:avLst/>
          </a:prstGeom>
          <a:solidFill>
            <a:srgbClr val="1B27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400800" y="0"/>
            <a:ext cx="11887200" cy="10287000"/>
          </a:xfrm>
          <a:prstGeom prst="rect">
            <a:avLst/>
          </a:prstGeom>
          <a:solidFill>
            <a:srgbClr val="1B274B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65760" y="1371600"/>
            <a:ext cx="56692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600" b="1" i="0">
                <a:solidFill>
                  <a:srgbClr val="FFFFFF"/>
                </a:solidFill>
                <a:latin typeface="Calibri"/>
              </a:rPr>
              <a:t>CONTROLE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3108960"/>
            <a:ext cx="56692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0" b="1" i="0">
                <a:solidFill>
                  <a:srgbClr val="1B274B"/>
                </a:solidFill>
                <a:latin typeface="Calibri"/>
              </a:rPr>
              <a:t>PID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6492240"/>
            <a:ext cx="5029200" cy="25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65760" y="6675120"/>
            <a:ext cx="5669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  <a:latin typeface="Calibri Light"/>
              </a:rPr>
              <a:t>Eduardo Pereira Valias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7178040"/>
            <a:ext cx="5669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  <a:latin typeface="Calibri Light"/>
              </a:rPr>
              <a:t>Vinícius Telles e Silva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32004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AAD6D4"/>
                </a:solidFill>
                <a:latin typeface="Calibri Light"/>
              </a:rPr>
              <a:t>C213 — Sistemas de Controle Automático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0" y="4114800"/>
            <a:ext cx="10972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  <a:latin typeface="Calibri"/>
              </a:rPr>
              <a:t>Identificação de Processos &amp;
Sintonia de Controladores PID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916400" y="982980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090A0"/>
                </a:solidFill>
                <a:latin typeface="Calibri Light"/>
              </a:rPr>
              <a:t>1 / 21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28600" cy="10287000"/>
          </a:xfrm>
          <a:prstGeom prst="rect">
            <a:avLst/>
          </a:prstGeom>
          <a:solidFill>
            <a:srgbClr val="1B27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7190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1B274B"/>
                </a:solidFill>
                <a:latin typeface="Calibri"/>
              </a:rPr>
              <a:t>Visão Geral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7282160" cy="25400"/>
          </a:xfrm>
          <a:prstGeom prst="rect">
            <a:avLst/>
          </a:prstGeom>
          <a:solidFill>
            <a:srgbClr val="1B27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80160"/>
            <a:ext cx="6400800" cy="900684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1280160"/>
            <a:ext cx="6400800" cy="9006840"/>
          </a:xfrm>
          <a:prstGeom prst="rect">
            <a:avLst/>
          </a:prstGeom>
          <a:solidFill>
            <a:srgbClr val="1B27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1280160"/>
            <a:ext cx="6400800" cy="9006840"/>
          </a:xfrm>
          <a:prstGeom prst="rect">
            <a:avLst/>
          </a:prstGeom>
          <a:solidFill>
            <a:srgbClr val="1B274B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20040" y="1463040"/>
            <a:ext cx="5760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Métodos de Sintonia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2148840"/>
            <a:ext cx="5760720" cy="25400"/>
          </a:xfrm>
          <a:prstGeom prst="rect">
            <a:avLst/>
          </a:prstGeom>
          <a:solidFill>
            <a:srgbClr val="AAD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20040" y="2377440"/>
            <a:ext cx="73152" cy="100584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48640" y="242316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IMC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88036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AAD6D4"/>
                </a:solidFill>
                <a:latin typeface="Calibri Light"/>
              </a:rPr>
              <a:t>Internal Model Control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3657600"/>
            <a:ext cx="73152" cy="100584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48640" y="370332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ITAE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16052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AAD6D4"/>
                </a:solidFill>
                <a:latin typeface="Calibri Light"/>
              </a:rPr>
              <a:t>Integral of Time-weighted Absolute Error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675120" y="1371600"/>
            <a:ext cx="11338560" cy="8823960"/>
          </a:xfrm>
          <a:prstGeom prst="rect">
            <a:avLst/>
          </a:prstGeom>
          <a:solidFill>
            <a:srgbClr val="E8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949440" y="1554480"/>
            <a:ext cx="10789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1B274B"/>
                </a:solidFill>
                <a:latin typeface="Calibri"/>
              </a:rPr>
              <a:t>Dataset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49440" y="2240280"/>
            <a:ext cx="10789920" cy="25400"/>
          </a:xfrm>
          <a:prstGeom prst="rect">
            <a:avLst/>
          </a:prstGeom>
          <a:solidFill>
            <a:srgbClr val="1B27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949440" y="2377440"/>
            <a:ext cx="10789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1">
                <a:solidFill>
                  <a:srgbClr val="55657A"/>
                </a:solidFill>
                <a:latin typeface="Calibri Light"/>
              </a:rPr>
              <a:t>Dataset_Grupo5_c213.mat</a:t>
            </a:r>
          </a:p>
        </p:txBody>
      </p:sp>
      <p:pic>
        <p:nvPicPr>
          <p:cNvPr id="20" name="Picture 19" descr="image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0" y="3200400"/>
            <a:ext cx="10515600" cy="658368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6916400" y="982980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5657A"/>
                </a:solidFill>
                <a:latin typeface="Calibri Light"/>
              </a:rPr>
              <a:t>2 / 21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7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0"/>
          <p:cNvSpPr/>
          <p:nvPr/>
        </p:nvSpPr>
        <p:spPr>
          <a:xfrm>
            <a:off x="0" y="0"/>
            <a:ext cx="228600" cy="10287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extBox 1"/>
          <p:cNvSpPr txBox="1"/>
          <p:nvPr/>
        </p:nvSpPr>
        <p:spPr>
          <a:xfrm>
            <a:off x="502920" y="320040"/>
            <a:ext cx="17190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Calibri"/>
              </a:rPr>
              <a:t>Interface Gráfica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143000"/>
            <a:ext cx="17282160" cy="254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371600"/>
            <a:ext cx="7315200" cy="795527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6916400" y="982980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090A0"/>
                </a:solidFill>
                <a:latin typeface="Calibri Light"/>
              </a:rPr>
              <a:t>3 / 21</a:t>
            </a:r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6CC398C4-8D43-4105-9F8E-6B51C9025D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599" y="1374438"/>
            <a:ext cx="9753487" cy="651898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7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28600" cy="10287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7190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42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Comparação de Malhas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7282160" cy="254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6916400" y="982980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8090A0"/>
                </a:solidFill>
                <a:effectLst/>
                <a:uLnTx/>
                <a:uFillTx/>
                <a:latin typeface="Calibri Light"/>
                <a:ea typeface="+mn-ea"/>
                <a:cs typeface="+mn-cs"/>
              </a:rPr>
              <a:t>4 / 21</a:t>
            </a: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ADFAD829-6AF9-4E9D-9D30-025DCC59C7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358" y="1340522"/>
            <a:ext cx="17127283" cy="841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21124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7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28600" cy="10287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7190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Calibri"/>
              </a:rPr>
              <a:t>Métodos de Identificação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7282160" cy="254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48640" y="1371600"/>
            <a:ext cx="8595360" cy="59436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41732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Smith</a:t>
            </a:r>
          </a:p>
        </p:txBody>
      </p:sp>
      <p:sp>
        <p:nvSpPr>
          <p:cNvPr id="7" name="Rectangle 6"/>
          <p:cNvSpPr/>
          <p:nvPr/>
        </p:nvSpPr>
        <p:spPr>
          <a:xfrm>
            <a:off x="9464040" y="1371600"/>
            <a:ext cx="8595360" cy="594360"/>
          </a:xfrm>
          <a:prstGeom prst="rect">
            <a:avLst/>
          </a:prstGeom>
          <a:solidFill>
            <a:srgbClr val="006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46920" y="141732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Sundaresan</a:t>
            </a:r>
          </a:p>
        </p:txBody>
      </p:sp>
      <p:pic>
        <p:nvPicPr>
          <p:cNvPr id="9" name="Picture 8" descr="image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057400"/>
            <a:ext cx="8595360" cy="6858000"/>
          </a:xfrm>
          <a:prstGeom prst="rect">
            <a:avLst/>
          </a:prstGeom>
        </p:spPr>
      </p:pic>
      <p:pic>
        <p:nvPicPr>
          <p:cNvPr id="10" name="Picture 9" descr="image1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81160" y="2057400"/>
            <a:ext cx="8686800" cy="68580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6916400" y="982980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090A0"/>
                </a:solidFill>
                <a:latin typeface="Calibri Light"/>
              </a:rPr>
              <a:t>5 / 21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28600" cy="10287000"/>
          </a:xfrm>
          <a:prstGeom prst="rect">
            <a:avLst/>
          </a:prstGeom>
          <a:solidFill>
            <a:srgbClr val="1B27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7190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1B274B"/>
                </a:solidFill>
                <a:latin typeface="Calibri"/>
              </a:rPr>
              <a:t>Smith — Parâmetros Identificados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7282160" cy="25400"/>
          </a:xfrm>
          <a:prstGeom prst="rect">
            <a:avLst/>
          </a:prstGeom>
          <a:solidFill>
            <a:srgbClr val="1B27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0972800" y="1371600"/>
            <a:ext cx="7132320" cy="1600200"/>
          </a:xfrm>
          <a:prstGeom prst="rect">
            <a:avLst/>
          </a:prstGeom>
          <a:solidFill>
            <a:srgbClr val="AAD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109960" y="1463040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55657A"/>
                </a:solidFill>
                <a:latin typeface="Calibri Light"/>
              </a:rPr>
              <a:t>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9960" y="1755648"/>
            <a:ext cx="6858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B274B"/>
                </a:solidFill>
                <a:latin typeface="Calibri"/>
              </a:rPr>
              <a:t>0.5898</a:t>
            </a:r>
          </a:p>
        </p:txBody>
      </p:sp>
      <p:sp>
        <p:nvSpPr>
          <p:cNvPr id="9" name="Rectangle 8"/>
          <p:cNvSpPr/>
          <p:nvPr/>
        </p:nvSpPr>
        <p:spPr>
          <a:xfrm>
            <a:off x="10972800" y="3246120"/>
            <a:ext cx="7132320" cy="1600200"/>
          </a:xfrm>
          <a:prstGeom prst="rect">
            <a:avLst/>
          </a:prstGeom>
          <a:solidFill>
            <a:srgbClr val="AAD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109960" y="3337560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55657A"/>
                </a:solidFill>
                <a:latin typeface="Calibri Light"/>
              </a:rPr>
              <a:t>τ (tau)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09960" y="3630168"/>
            <a:ext cx="6858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B274B"/>
                </a:solidFill>
                <a:latin typeface="Calibri"/>
              </a:rPr>
              <a:t>40.5000 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972800" y="5120640"/>
            <a:ext cx="7132320" cy="1600200"/>
          </a:xfrm>
          <a:prstGeom prst="rect">
            <a:avLst/>
          </a:prstGeom>
          <a:solidFill>
            <a:srgbClr val="AAD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1109960" y="5212080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55657A"/>
                </a:solidFill>
                <a:latin typeface="Calibri Light"/>
              </a:rPr>
              <a:t>θ (theta)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09960" y="5504688"/>
            <a:ext cx="6858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B274B"/>
                </a:solidFill>
                <a:latin typeface="Calibri"/>
              </a:rPr>
              <a:t>18.0000 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972800" y="6995160"/>
            <a:ext cx="7132320" cy="1600200"/>
          </a:xfrm>
          <a:prstGeom prst="rect">
            <a:avLst/>
          </a:prstGeom>
          <a:solidFill>
            <a:srgbClr val="AAD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1109960" y="7086600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55657A"/>
                </a:solidFill>
                <a:latin typeface="Calibri Light"/>
              </a:rPr>
              <a:t>E (EQM)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09960" y="7379208"/>
            <a:ext cx="6858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B274B"/>
                </a:solidFill>
                <a:latin typeface="Calibri"/>
              </a:rPr>
              <a:t>0.2650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916400" y="982980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5657A"/>
                </a:solidFill>
                <a:latin typeface="Calibri Light"/>
              </a:rPr>
              <a:t>6 / 21</a:t>
            </a:r>
          </a:p>
        </p:txBody>
      </p:sp>
      <p:pic>
        <p:nvPicPr>
          <p:cNvPr id="20" name="Imagem 19">
            <a:extLst>
              <a:ext uri="{FF2B5EF4-FFF2-40B4-BE49-F238E27FC236}">
                <a16:creationId xmlns:a16="http://schemas.microsoft.com/office/drawing/2014/main" id="{E9D4AFDA-FDD6-4363-BE22-3537B8B115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368093"/>
            <a:ext cx="10469880" cy="722726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28600" cy="10287000"/>
          </a:xfrm>
          <a:prstGeom prst="rect">
            <a:avLst/>
          </a:prstGeom>
          <a:solidFill>
            <a:srgbClr val="1B27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7190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1B274B"/>
                </a:solidFill>
                <a:latin typeface="Calibri"/>
              </a:rPr>
              <a:t>Sundaresan — Parâmetros Identificados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7282160" cy="25400"/>
          </a:xfrm>
          <a:prstGeom prst="rect">
            <a:avLst/>
          </a:prstGeom>
          <a:solidFill>
            <a:srgbClr val="1B27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0972800" y="1371600"/>
            <a:ext cx="7132320" cy="1600200"/>
          </a:xfrm>
          <a:prstGeom prst="rect">
            <a:avLst/>
          </a:prstGeom>
          <a:solidFill>
            <a:srgbClr val="AAD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109960" y="1463040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55657A"/>
                </a:solidFill>
                <a:latin typeface="Calibri Light"/>
              </a:rPr>
              <a:t>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9960" y="1755648"/>
            <a:ext cx="6858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B274B"/>
                </a:solidFill>
                <a:latin typeface="Calibri"/>
              </a:rPr>
              <a:t>0.5898</a:t>
            </a:r>
          </a:p>
        </p:txBody>
      </p:sp>
      <p:sp>
        <p:nvSpPr>
          <p:cNvPr id="9" name="Rectangle 8"/>
          <p:cNvSpPr/>
          <p:nvPr/>
        </p:nvSpPr>
        <p:spPr>
          <a:xfrm>
            <a:off x="10972800" y="3246120"/>
            <a:ext cx="7132320" cy="1600200"/>
          </a:xfrm>
          <a:prstGeom prst="rect">
            <a:avLst/>
          </a:prstGeom>
          <a:solidFill>
            <a:srgbClr val="AAD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109960" y="3337560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55657A"/>
                </a:solidFill>
                <a:latin typeface="Calibri Light"/>
              </a:rPr>
              <a:t>τ (tau)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09960" y="3630168"/>
            <a:ext cx="6858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B274B"/>
                </a:solidFill>
                <a:latin typeface="Calibri"/>
              </a:rPr>
              <a:t>40.6667 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972800" y="5120640"/>
            <a:ext cx="7132320" cy="1600200"/>
          </a:xfrm>
          <a:prstGeom prst="rect">
            <a:avLst/>
          </a:prstGeom>
          <a:solidFill>
            <a:srgbClr val="AAD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1109960" y="5212080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55657A"/>
                </a:solidFill>
                <a:latin typeface="Calibri Light"/>
              </a:rPr>
              <a:t>θ (theta)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09960" y="5504688"/>
            <a:ext cx="6858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B274B"/>
                </a:solidFill>
                <a:latin typeface="Calibri"/>
              </a:rPr>
              <a:t>18.1650 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972800" y="6995160"/>
            <a:ext cx="7132320" cy="1600200"/>
          </a:xfrm>
          <a:prstGeom prst="rect">
            <a:avLst/>
          </a:prstGeom>
          <a:solidFill>
            <a:srgbClr val="AAD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1109960" y="7086600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55657A"/>
                </a:solidFill>
                <a:latin typeface="Calibri Light"/>
              </a:rPr>
              <a:t>E (EQM)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09960" y="7379208"/>
            <a:ext cx="6858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B274B"/>
                </a:solidFill>
                <a:latin typeface="Calibri"/>
              </a:rPr>
              <a:t>0.3166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916400" y="982980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5657A"/>
                </a:solidFill>
                <a:latin typeface="Calibri Light"/>
              </a:rPr>
              <a:t>7 / 21</a:t>
            </a:r>
          </a:p>
        </p:txBody>
      </p:sp>
      <p:pic>
        <p:nvPicPr>
          <p:cNvPr id="20" name="Imagem 19">
            <a:extLst>
              <a:ext uri="{FF2B5EF4-FFF2-40B4-BE49-F238E27FC236}">
                <a16:creationId xmlns:a16="http://schemas.microsoft.com/office/drawing/2014/main" id="{141F5AAA-CC5D-48ED-825A-3F84CF9CF5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371600"/>
            <a:ext cx="10469880" cy="72237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7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28600" cy="10287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7190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Calibri"/>
              </a:rPr>
              <a:t>Métodos de Sintonia PID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7282160" cy="254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48640" y="1371600"/>
            <a:ext cx="8595360" cy="59436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41732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IMC</a:t>
            </a:r>
          </a:p>
        </p:txBody>
      </p:sp>
      <p:pic>
        <p:nvPicPr>
          <p:cNvPr id="7" name="Picture 6" descr="image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057400"/>
            <a:ext cx="8595360" cy="6858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9464040" y="1371600"/>
            <a:ext cx="8595360" cy="594360"/>
          </a:xfrm>
          <a:prstGeom prst="rect">
            <a:avLst/>
          </a:prstGeom>
          <a:solidFill>
            <a:srgbClr val="006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646920" y="141732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ITAE</a:t>
            </a:r>
          </a:p>
        </p:txBody>
      </p:sp>
      <p:pic>
        <p:nvPicPr>
          <p:cNvPr id="10" name="Picture 9" descr="image1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64040" y="2057400"/>
            <a:ext cx="8595360" cy="68580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6916400" y="982980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090A0"/>
                </a:solidFill>
                <a:latin typeface="Calibri Light"/>
              </a:rPr>
              <a:t>8 / 21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7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28600" cy="10287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7190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Calibri"/>
              </a:rPr>
              <a:t>IMC — Parâmetros do Controlador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7282160" cy="254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371600"/>
            <a:ext cx="10241280" cy="4428661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1064240" y="1371600"/>
            <a:ext cx="3383280" cy="1554480"/>
          </a:xfrm>
          <a:prstGeom prst="rect">
            <a:avLst/>
          </a:prstGeom>
          <a:solidFill>
            <a:srgbClr val="22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201400" y="146304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AAD6D4"/>
                </a:solidFill>
                <a:latin typeface="Calibri Light"/>
              </a:rPr>
              <a:t>Kp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1755648"/>
            <a:ext cx="31089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3.1082</a:t>
            </a:r>
          </a:p>
        </p:txBody>
      </p:sp>
      <p:sp>
        <p:nvSpPr>
          <p:cNvPr id="9" name="Rectangle 8"/>
          <p:cNvSpPr/>
          <p:nvPr/>
        </p:nvSpPr>
        <p:spPr>
          <a:xfrm>
            <a:off x="14630400" y="1371600"/>
            <a:ext cx="3383280" cy="1554480"/>
          </a:xfrm>
          <a:prstGeom prst="rect">
            <a:avLst/>
          </a:prstGeom>
          <a:solidFill>
            <a:srgbClr val="22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4767560" y="146304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AAD6D4"/>
                </a:solidFill>
                <a:latin typeface="Calibri Light"/>
              </a:rPr>
              <a:t>Ti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767560" y="1755648"/>
            <a:ext cx="31089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49.5000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064240" y="3200400"/>
            <a:ext cx="3383280" cy="1554480"/>
          </a:xfrm>
          <a:prstGeom prst="rect">
            <a:avLst/>
          </a:prstGeom>
          <a:solidFill>
            <a:srgbClr val="22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1201400" y="329184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AAD6D4"/>
                </a:solidFill>
                <a:latin typeface="Calibri Light"/>
              </a:rPr>
              <a:t>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01400" y="3584448"/>
            <a:ext cx="31089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7.3636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4630400" y="3200400"/>
            <a:ext cx="3383280" cy="1554480"/>
          </a:xfrm>
          <a:prstGeom prst="rect">
            <a:avLst/>
          </a:prstGeom>
          <a:solidFill>
            <a:srgbClr val="22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4767560" y="329184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AAD6D4"/>
                </a:solidFill>
                <a:latin typeface="Calibri Light"/>
              </a:rPr>
              <a:t>SP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767560" y="3584448"/>
            <a:ext cx="31089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83.1572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916400" y="982980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090A0"/>
                </a:solidFill>
                <a:latin typeface="Calibri Light"/>
              </a:rPr>
              <a:t>9 / 21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7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28600" cy="10287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7190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Calibri"/>
              </a:rPr>
              <a:t>IMC — Métricas de Desempenho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7282160" cy="254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371600"/>
            <a:ext cx="10241280" cy="4428661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1064240" y="1371600"/>
            <a:ext cx="3383280" cy="1554480"/>
          </a:xfrm>
          <a:prstGeom prst="rect">
            <a:avLst/>
          </a:prstGeom>
          <a:solidFill>
            <a:srgbClr val="22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201400" y="146304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AAD6D4"/>
                </a:solidFill>
                <a:latin typeface="Calibri Light"/>
              </a:rPr>
              <a:t>ts (Tempo de Acomodação)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1755648"/>
            <a:ext cx="31089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78.5603 s</a:t>
            </a:r>
          </a:p>
        </p:txBody>
      </p:sp>
      <p:sp>
        <p:nvSpPr>
          <p:cNvPr id="9" name="Rectangle 8"/>
          <p:cNvSpPr/>
          <p:nvPr/>
        </p:nvSpPr>
        <p:spPr>
          <a:xfrm>
            <a:off x="14630400" y="1371600"/>
            <a:ext cx="3383280" cy="1554480"/>
          </a:xfrm>
          <a:prstGeom prst="rect">
            <a:avLst/>
          </a:prstGeom>
          <a:solidFill>
            <a:srgbClr val="22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4767560" y="146304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AAD6D4"/>
                </a:solidFill>
                <a:latin typeface="Calibri Light"/>
              </a:rPr>
              <a:t>tr (Tempo de Subida)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767560" y="1755648"/>
            <a:ext cx="31089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33.4481 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064240" y="3200400"/>
            <a:ext cx="3383280" cy="1554480"/>
          </a:xfrm>
          <a:prstGeom prst="rect">
            <a:avLst/>
          </a:prstGeom>
          <a:solidFill>
            <a:srgbClr val="22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1201400" y="329184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AAD6D4"/>
                </a:solidFill>
                <a:latin typeface="Calibri Light"/>
              </a:rPr>
              <a:t>Mp (Overshoot)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01400" y="3584448"/>
            <a:ext cx="31089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0 %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4630400" y="3200400"/>
            <a:ext cx="3383280" cy="1554480"/>
          </a:xfrm>
          <a:prstGeom prst="rect">
            <a:avLst/>
          </a:prstGeom>
          <a:solidFill>
            <a:srgbClr val="22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4767560" y="329184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AAD6D4"/>
                </a:solidFill>
                <a:latin typeface="Calibri Light"/>
              </a:rPr>
              <a:t>Erro (Regime Permanente)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767560" y="3584448"/>
            <a:ext cx="31089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0.0793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916400" y="982980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090A0"/>
                </a:solidFill>
                <a:latin typeface="Calibri Light"/>
              </a:rPr>
              <a:t>10 / 21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28600" cy="10287000"/>
          </a:xfrm>
          <a:prstGeom prst="rect">
            <a:avLst/>
          </a:prstGeom>
          <a:solidFill>
            <a:srgbClr val="1B27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7190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1B274B"/>
                </a:solidFill>
                <a:latin typeface="Calibri"/>
              </a:rPr>
              <a:t>ITAE — Parâmetros do Controlador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7282160" cy="25400"/>
          </a:xfrm>
          <a:prstGeom prst="rect">
            <a:avLst/>
          </a:prstGeom>
          <a:solidFill>
            <a:srgbClr val="1B27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371600"/>
            <a:ext cx="10241280" cy="4428661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1064240" y="1371600"/>
            <a:ext cx="3383280" cy="1554480"/>
          </a:xfrm>
          <a:prstGeom prst="rect">
            <a:avLst/>
          </a:prstGeom>
          <a:solidFill>
            <a:srgbClr val="AAD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201400" y="146304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55657A"/>
                </a:solidFill>
                <a:latin typeface="Calibri Light"/>
              </a:rPr>
              <a:t>Kp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1755648"/>
            <a:ext cx="31089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B274B"/>
                </a:solidFill>
                <a:latin typeface="Calibri"/>
              </a:rPr>
              <a:t>3.2595</a:t>
            </a:r>
          </a:p>
        </p:txBody>
      </p:sp>
      <p:sp>
        <p:nvSpPr>
          <p:cNvPr id="9" name="Rectangle 8"/>
          <p:cNvSpPr/>
          <p:nvPr/>
        </p:nvSpPr>
        <p:spPr>
          <a:xfrm>
            <a:off x="14630400" y="1371600"/>
            <a:ext cx="3383280" cy="1554480"/>
          </a:xfrm>
          <a:prstGeom prst="rect">
            <a:avLst/>
          </a:prstGeom>
          <a:solidFill>
            <a:srgbClr val="AAD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4767560" y="146304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55657A"/>
                </a:solidFill>
                <a:latin typeface="Calibri Light"/>
              </a:rPr>
              <a:t>Ti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767560" y="1755648"/>
            <a:ext cx="31089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B274B"/>
                </a:solidFill>
                <a:latin typeface="Calibri"/>
              </a:rPr>
              <a:t>55.4288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064240" y="3200400"/>
            <a:ext cx="3383280" cy="1554480"/>
          </a:xfrm>
          <a:prstGeom prst="rect">
            <a:avLst/>
          </a:prstGeom>
          <a:solidFill>
            <a:srgbClr val="AAD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1201400" y="329184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55657A"/>
                </a:solidFill>
                <a:latin typeface="Calibri Light"/>
              </a:rPr>
              <a:t>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01400" y="3584448"/>
            <a:ext cx="31089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B274B"/>
                </a:solidFill>
                <a:latin typeface="Calibri"/>
              </a:rPr>
              <a:t>5.8762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4630400" y="3200400"/>
            <a:ext cx="3383280" cy="1554480"/>
          </a:xfrm>
          <a:prstGeom prst="rect">
            <a:avLst/>
          </a:prstGeom>
          <a:solidFill>
            <a:srgbClr val="AAD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4767560" y="329184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55657A"/>
                </a:solidFill>
                <a:latin typeface="Calibri Light"/>
              </a:rPr>
              <a:t>SP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767560" y="3584448"/>
            <a:ext cx="31089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B274B"/>
                </a:solidFill>
                <a:latin typeface="Calibri"/>
              </a:rPr>
              <a:t>83.1562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916400" y="982980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5657A"/>
                </a:solidFill>
                <a:latin typeface="Calibri Light"/>
              </a:rPr>
              <a:t>11 / 21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28600" cy="10287000"/>
          </a:xfrm>
          <a:prstGeom prst="rect">
            <a:avLst/>
          </a:prstGeom>
          <a:solidFill>
            <a:srgbClr val="1B27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7190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1B274B"/>
                </a:solidFill>
                <a:latin typeface="Calibri"/>
              </a:rPr>
              <a:t>ITAE — Métricas de Desempenho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7282160" cy="25400"/>
          </a:xfrm>
          <a:prstGeom prst="rect">
            <a:avLst/>
          </a:prstGeom>
          <a:solidFill>
            <a:srgbClr val="1B27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371600"/>
            <a:ext cx="10241280" cy="4428661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1064240" y="1371600"/>
            <a:ext cx="3383280" cy="1554480"/>
          </a:xfrm>
          <a:prstGeom prst="rect">
            <a:avLst/>
          </a:prstGeom>
          <a:solidFill>
            <a:srgbClr val="AAD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201400" y="146304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55657A"/>
                </a:solidFill>
                <a:latin typeface="Calibri Light"/>
              </a:rPr>
              <a:t>ts (Tempo de Acomodação)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1755648"/>
            <a:ext cx="31089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B274B"/>
                </a:solidFill>
                <a:latin typeface="Calibri"/>
              </a:rPr>
              <a:t>118.2950 s</a:t>
            </a:r>
          </a:p>
        </p:txBody>
      </p:sp>
      <p:sp>
        <p:nvSpPr>
          <p:cNvPr id="9" name="Rectangle 8"/>
          <p:cNvSpPr/>
          <p:nvPr/>
        </p:nvSpPr>
        <p:spPr>
          <a:xfrm>
            <a:off x="14630400" y="1371600"/>
            <a:ext cx="3383280" cy="1554480"/>
          </a:xfrm>
          <a:prstGeom prst="rect">
            <a:avLst/>
          </a:prstGeom>
          <a:solidFill>
            <a:srgbClr val="AAD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4767560" y="146304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55657A"/>
                </a:solidFill>
                <a:latin typeface="Calibri Light"/>
              </a:rPr>
              <a:t>tr (Tempo de Subida)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767560" y="1755648"/>
            <a:ext cx="31089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B274B"/>
                </a:solidFill>
                <a:latin typeface="Calibri"/>
              </a:rPr>
              <a:t>33.7334 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064240" y="3200400"/>
            <a:ext cx="3383280" cy="1554480"/>
          </a:xfrm>
          <a:prstGeom prst="rect">
            <a:avLst/>
          </a:prstGeom>
          <a:solidFill>
            <a:srgbClr val="AAD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1201400" y="329184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55657A"/>
                </a:solidFill>
                <a:latin typeface="Calibri Light"/>
              </a:rPr>
              <a:t>Mp (Overshoot)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01400" y="3584448"/>
            <a:ext cx="31089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B274B"/>
                </a:solidFill>
                <a:latin typeface="Calibri"/>
              </a:rPr>
              <a:t>0.0000 %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4630400" y="3200400"/>
            <a:ext cx="3383280" cy="1554480"/>
          </a:xfrm>
          <a:prstGeom prst="rect">
            <a:avLst/>
          </a:prstGeom>
          <a:solidFill>
            <a:srgbClr val="AAD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4767560" y="329184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55657A"/>
                </a:solidFill>
                <a:latin typeface="Calibri Light"/>
              </a:rPr>
              <a:t>Erro (Regime Permanente)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767560" y="3584448"/>
            <a:ext cx="31089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B274B"/>
                </a:solidFill>
                <a:latin typeface="Calibri"/>
              </a:rPr>
              <a:t>0.0142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916400" y="982980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5657A"/>
                </a:solidFill>
                <a:latin typeface="Calibri Light"/>
              </a:rPr>
              <a:t>12 / 21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7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28600" cy="10287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7190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Calibri"/>
              </a:rPr>
              <a:t>Manual — Overshoot (Parâmetros)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7282160" cy="254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371600"/>
            <a:ext cx="10241280" cy="4428661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1064240" y="1371600"/>
            <a:ext cx="3383280" cy="1554480"/>
          </a:xfrm>
          <a:prstGeom prst="rect">
            <a:avLst/>
          </a:prstGeom>
          <a:solidFill>
            <a:srgbClr val="22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201400" y="146304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AAD6D4"/>
                </a:solidFill>
                <a:latin typeface="Calibri Light"/>
              </a:rPr>
              <a:t>Kp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1755648"/>
            <a:ext cx="31089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5.800</a:t>
            </a:r>
          </a:p>
        </p:txBody>
      </p:sp>
      <p:sp>
        <p:nvSpPr>
          <p:cNvPr id="9" name="Rectangle 8"/>
          <p:cNvSpPr/>
          <p:nvPr/>
        </p:nvSpPr>
        <p:spPr>
          <a:xfrm>
            <a:off x="14630400" y="1371600"/>
            <a:ext cx="3383280" cy="1554480"/>
          </a:xfrm>
          <a:prstGeom prst="rect">
            <a:avLst/>
          </a:prstGeom>
          <a:solidFill>
            <a:srgbClr val="22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4767560" y="146304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AAD6D4"/>
                </a:solidFill>
                <a:latin typeface="Calibri Light"/>
              </a:rPr>
              <a:t>Ti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767560" y="1755648"/>
            <a:ext cx="31089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25.0000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064240" y="3200400"/>
            <a:ext cx="3383280" cy="1554480"/>
          </a:xfrm>
          <a:prstGeom prst="rect">
            <a:avLst/>
          </a:prstGeom>
          <a:solidFill>
            <a:srgbClr val="22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1201400" y="329184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AAD6D4"/>
                </a:solidFill>
                <a:latin typeface="Calibri Light"/>
              </a:rPr>
              <a:t>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01400" y="3584448"/>
            <a:ext cx="31089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6.0000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4630400" y="3200400"/>
            <a:ext cx="3383280" cy="1554480"/>
          </a:xfrm>
          <a:prstGeom prst="rect">
            <a:avLst/>
          </a:prstGeom>
          <a:solidFill>
            <a:srgbClr val="22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4767560" y="329184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AAD6D4"/>
                </a:solidFill>
                <a:latin typeface="Calibri Light"/>
              </a:rPr>
              <a:t>SP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767560" y="3584448"/>
            <a:ext cx="31089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60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916400" y="982980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090A0"/>
                </a:solidFill>
                <a:latin typeface="Calibri Light"/>
              </a:rPr>
              <a:t>13 / 21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7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28600" cy="10287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7190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Calibri"/>
              </a:rPr>
              <a:t>Manual — Overshoot (Métricas)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7282160" cy="254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371600"/>
            <a:ext cx="10241280" cy="4428661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1064240" y="1371600"/>
            <a:ext cx="3383280" cy="1554480"/>
          </a:xfrm>
          <a:prstGeom prst="rect">
            <a:avLst/>
          </a:prstGeom>
          <a:solidFill>
            <a:srgbClr val="22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201400" y="146304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AAD6D4"/>
                </a:solidFill>
                <a:latin typeface="Calibri Light"/>
              </a:rPr>
              <a:t>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1755648"/>
            <a:ext cx="31089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190.9211 s</a:t>
            </a:r>
          </a:p>
        </p:txBody>
      </p:sp>
      <p:sp>
        <p:nvSpPr>
          <p:cNvPr id="9" name="Rectangle 8"/>
          <p:cNvSpPr/>
          <p:nvPr/>
        </p:nvSpPr>
        <p:spPr>
          <a:xfrm>
            <a:off x="14630400" y="1371600"/>
            <a:ext cx="3383280" cy="1554480"/>
          </a:xfrm>
          <a:prstGeom prst="rect">
            <a:avLst/>
          </a:prstGeom>
          <a:solidFill>
            <a:srgbClr val="22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4767560" y="146304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AAD6D4"/>
                </a:solidFill>
                <a:latin typeface="Calibri Light"/>
              </a:rPr>
              <a:t>tr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767560" y="1755648"/>
            <a:ext cx="31089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23.0392 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064240" y="3200400"/>
            <a:ext cx="3383280" cy="1554480"/>
          </a:xfrm>
          <a:prstGeom prst="rect">
            <a:avLst/>
          </a:prstGeom>
          <a:solidFill>
            <a:srgbClr val="22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1201400" y="329184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AAD6D4"/>
                </a:solidFill>
                <a:latin typeface="Calibri Light"/>
              </a:rPr>
              <a:t>Mp (Overshoot)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01400" y="3584448"/>
            <a:ext cx="31089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93.9031 %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4630400" y="3200400"/>
            <a:ext cx="3383280" cy="1554480"/>
          </a:xfrm>
          <a:prstGeom prst="rect">
            <a:avLst/>
          </a:prstGeom>
          <a:solidFill>
            <a:srgbClr val="22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4767560" y="329184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AAD6D4"/>
                </a:solidFill>
                <a:latin typeface="Calibri Light"/>
              </a:rPr>
              <a:t>Erro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767560" y="3584448"/>
            <a:ext cx="31089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82.1567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916400" y="982980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090A0"/>
                </a:solidFill>
                <a:latin typeface="Calibri Light"/>
              </a:rPr>
              <a:t>14 / 21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7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28600" cy="10287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7190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Calibri"/>
              </a:rPr>
              <a:t>Manual — Overshoot (Análise)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7282160" cy="254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371600"/>
            <a:ext cx="8686800" cy="41148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9418320" y="1371600"/>
            <a:ext cx="73152" cy="173736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92640" y="137160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Kp alto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92640" y="1874520"/>
            <a:ext cx="8229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AAD6D4"/>
                </a:solidFill>
                <a:latin typeface="Calibri Light"/>
              </a:rPr>
              <a:t>Ganho proporcional elevado amplifica o sinal de controle, forçando resposta agressiva.</a:t>
            </a:r>
          </a:p>
        </p:txBody>
      </p:sp>
      <p:sp>
        <p:nvSpPr>
          <p:cNvPr id="9" name="Rectangle 8"/>
          <p:cNvSpPr/>
          <p:nvPr/>
        </p:nvSpPr>
        <p:spPr>
          <a:xfrm>
            <a:off x="9418320" y="3383280"/>
            <a:ext cx="73152" cy="173736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692640" y="33832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Ti baixo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92640" y="3886200"/>
            <a:ext cx="8229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AAD6D4"/>
                </a:solidFill>
                <a:latin typeface="Calibri Light"/>
              </a:rPr>
              <a:t>Tempo integral reduzido gera ação integral forte — acúmulo rápido do erro.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418320" y="5394960"/>
            <a:ext cx="73152" cy="173736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692640" y="53949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Ação integral forte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92640" y="5897880"/>
            <a:ext cx="8229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AAD6D4"/>
                </a:solidFill>
                <a:latin typeface="Calibri Light"/>
              </a:rPr>
              <a:t>Integrador "empurra" a saída além do setpoint causando overshooting.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418320" y="7406640"/>
            <a:ext cx="73152" cy="173736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692640" y="740664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Inércia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92640" y="7909560"/>
            <a:ext cx="8229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AAD6D4"/>
                </a:solidFill>
                <a:latin typeface="Calibri Light"/>
              </a:rPr>
              <a:t>O sistema demora a corrigir a ultrapassagem, resultando em longa acomodação.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916400" y="982980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090A0"/>
                </a:solidFill>
                <a:latin typeface="Calibri Light"/>
              </a:rPr>
              <a:t>15 / 21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28600" cy="10287000"/>
          </a:xfrm>
          <a:prstGeom prst="rect">
            <a:avLst/>
          </a:prstGeom>
          <a:solidFill>
            <a:srgbClr val="1B27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7190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1B274B"/>
                </a:solidFill>
                <a:latin typeface="Calibri"/>
              </a:rPr>
              <a:t>Manual — Subamortecido (Parâmetros)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7282160" cy="25400"/>
          </a:xfrm>
          <a:prstGeom prst="rect">
            <a:avLst/>
          </a:prstGeom>
          <a:solidFill>
            <a:srgbClr val="1B27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371600"/>
            <a:ext cx="10241280" cy="4428661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1064240" y="1371600"/>
            <a:ext cx="3383280" cy="1554480"/>
          </a:xfrm>
          <a:prstGeom prst="rect">
            <a:avLst/>
          </a:prstGeom>
          <a:solidFill>
            <a:srgbClr val="AAD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201400" y="146304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55657A"/>
                </a:solidFill>
                <a:latin typeface="Calibri Light"/>
              </a:rPr>
              <a:t>Kp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1755648"/>
            <a:ext cx="31089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B274B"/>
                </a:solidFill>
                <a:latin typeface="Calibri"/>
              </a:rPr>
              <a:t>3.5000</a:t>
            </a:r>
          </a:p>
        </p:txBody>
      </p:sp>
      <p:sp>
        <p:nvSpPr>
          <p:cNvPr id="9" name="Rectangle 8"/>
          <p:cNvSpPr/>
          <p:nvPr/>
        </p:nvSpPr>
        <p:spPr>
          <a:xfrm>
            <a:off x="14630400" y="1371600"/>
            <a:ext cx="3383280" cy="1554480"/>
          </a:xfrm>
          <a:prstGeom prst="rect">
            <a:avLst/>
          </a:prstGeom>
          <a:solidFill>
            <a:srgbClr val="AAD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4767560" y="146304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55657A"/>
                </a:solidFill>
                <a:latin typeface="Calibri Light"/>
              </a:rPr>
              <a:t>Ti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767560" y="1755648"/>
            <a:ext cx="31089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B274B"/>
                </a:solidFill>
                <a:latin typeface="Calibri"/>
              </a:rPr>
              <a:t>30.0000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064240" y="3200400"/>
            <a:ext cx="3383280" cy="1554480"/>
          </a:xfrm>
          <a:prstGeom prst="rect">
            <a:avLst/>
          </a:prstGeom>
          <a:solidFill>
            <a:srgbClr val="AAD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1201400" y="329184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55657A"/>
                </a:solidFill>
                <a:latin typeface="Calibri Light"/>
              </a:rPr>
              <a:t>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01400" y="3584448"/>
            <a:ext cx="31089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B274B"/>
                </a:solidFill>
                <a:latin typeface="Calibri"/>
              </a:rPr>
              <a:t>8.0000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4630400" y="3200400"/>
            <a:ext cx="3383280" cy="1554480"/>
          </a:xfrm>
          <a:prstGeom prst="rect">
            <a:avLst/>
          </a:prstGeom>
          <a:solidFill>
            <a:srgbClr val="AAD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4767560" y="329184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55657A"/>
                </a:solidFill>
                <a:latin typeface="Calibri Light"/>
              </a:rPr>
              <a:t>SP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767560" y="3584448"/>
            <a:ext cx="31089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B274B"/>
                </a:solidFill>
                <a:latin typeface="Calibri"/>
              </a:rPr>
              <a:t>80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916400" y="982980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5657A"/>
                </a:solidFill>
                <a:latin typeface="Calibri Light"/>
              </a:rPr>
              <a:t>16 / 21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28600" cy="10287000"/>
          </a:xfrm>
          <a:prstGeom prst="rect">
            <a:avLst/>
          </a:prstGeom>
          <a:solidFill>
            <a:srgbClr val="1B27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7190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1B274B"/>
                </a:solidFill>
                <a:latin typeface="Calibri"/>
              </a:rPr>
              <a:t>Manual — Subamortecido (Métricas)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7282160" cy="25400"/>
          </a:xfrm>
          <a:prstGeom prst="rect">
            <a:avLst/>
          </a:prstGeom>
          <a:solidFill>
            <a:srgbClr val="1B27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371600"/>
            <a:ext cx="10241280" cy="4428661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1064240" y="1371600"/>
            <a:ext cx="3383280" cy="1554480"/>
          </a:xfrm>
          <a:prstGeom prst="rect">
            <a:avLst/>
          </a:prstGeom>
          <a:solidFill>
            <a:srgbClr val="AAD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201400" y="146304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55657A"/>
                </a:solidFill>
                <a:latin typeface="Calibri Light"/>
              </a:rPr>
              <a:t>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1755648"/>
            <a:ext cx="31089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B274B"/>
                </a:solidFill>
                <a:latin typeface="Calibri"/>
              </a:rPr>
              <a:t>111.9386 s</a:t>
            </a:r>
          </a:p>
        </p:txBody>
      </p:sp>
      <p:sp>
        <p:nvSpPr>
          <p:cNvPr id="9" name="Rectangle 8"/>
          <p:cNvSpPr/>
          <p:nvPr/>
        </p:nvSpPr>
        <p:spPr>
          <a:xfrm>
            <a:off x="14630400" y="1371600"/>
            <a:ext cx="3383280" cy="1554480"/>
          </a:xfrm>
          <a:prstGeom prst="rect">
            <a:avLst/>
          </a:prstGeom>
          <a:solidFill>
            <a:srgbClr val="AAD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4767560" y="146304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55657A"/>
                </a:solidFill>
                <a:latin typeface="Calibri Light"/>
              </a:rPr>
              <a:t>tr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767560" y="1755648"/>
            <a:ext cx="31089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B274B"/>
                </a:solidFill>
                <a:latin typeface="Calibri"/>
              </a:rPr>
              <a:t>28.8725 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064240" y="3200400"/>
            <a:ext cx="3383280" cy="1554480"/>
          </a:xfrm>
          <a:prstGeom prst="rect">
            <a:avLst/>
          </a:prstGeom>
          <a:solidFill>
            <a:srgbClr val="AAD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1201400" y="329184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55657A"/>
                </a:solidFill>
                <a:latin typeface="Calibri Light"/>
              </a:rPr>
              <a:t>Mp (Overshoot)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01400" y="3584448"/>
            <a:ext cx="31089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B274B"/>
                </a:solidFill>
                <a:latin typeface="Calibri"/>
              </a:rPr>
              <a:t>19.5108 %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4630400" y="3200400"/>
            <a:ext cx="3383280" cy="1554480"/>
          </a:xfrm>
          <a:prstGeom prst="rect">
            <a:avLst/>
          </a:prstGeom>
          <a:solidFill>
            <a:srgbClr val="AAD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4767560" y="329184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55657A"/>
                </a:solidFill>
                <a:latin typeface="Calibri Light"/>
              </a:rPr>
              <a:t>Erro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767560" y="3584448"/>
            <a:ext cx="31089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B274B"/>
                </a:solidFill>
                <a:latin typeface="Calibri"/>
              </a:rPr>
              <a:t>-0.0248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916400" y="982980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5657A"/>
                </a:solidFill>
                <a:latin typeface="Calibri Light"/>
              </a:rPr>
              <a:t>17 / 21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28600" cy="10287000"/>
          </a:xfrm>
          <a:prstGeom prst="rect">
            <a:avLst/>
          </a:prstGeom>
          <a:solidFill>
            <a:srgbClr val="1B27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7190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1B274B"/>
                </a:solidFill>
                <a:latin typeface="Calibri"/>
              </a:rPr>
              <a:t>Manual — Subamortecido (Análise)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7282160" cy="25400"/>
          </a:xfrm>
          <a:prstGeom prst="rect">
            <a:avLst/>
          </a:prstGeom>
          <a:solidFill>
            <a:srgbClr val="1B27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371600"/>
            <a:ext cx="8686800" cy="41148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9418320" y="1371600"/>
            <a:ext cx="73152" cy="1737360"/>
          </a:xfrm>
          <a:prstGeom prst="rect">
            <a:avLst/>
          </a:prstGeom>
          <a:solidFill>
            <a:srgbClr val="1B27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92640" y="137160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B274B"/>
                </a:solidFill>
                <a:latin typeface="Calibri"/>
              </a:rPr>
              <a:t>Kp alto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92640" y="1874520"/>
            <a:ext cx="8229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55657A"/>
                </a:solidFill>
                <a:latin typeface="Calibri Light"/>
              </a:rPr>
              <a:t>Ganho proporcional moderadamente elevado ainda acelera a resposta.</a:t>
            </a:r>
          </a:p>
        </p:txBody>
      </p:sp>
      <p:sp>
        <p:nvSpPr>
          <p:cNvPr id="9" name="Rectangle 8"/>
          <p:cNvSpPr/>
          <p:nvPr/>
        </p:nvSpPr>
        <p:spPr>
          <a:xfrm>
            <a:off x="9418320" y="3383280"/>
            <a:ext cx="73152" cy="1737360"/>
          </a:xfrm>
          <a:prstGeom prst="rect">
            <a:avLst/>
          </a:prstGeom>
          <a:solidFill>
            <a:srgbClr val="1B27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692640" y="33832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B274B"/>
                </a:solidFill>
                <a:latin typeface="Calibri"/>
              </a:rPr>
              <a:t>Td alto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92640" y="3886200"/>
            <a:ext cx="8229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55657A"/>
                </a:solidFill>
                <a:latin typeface="Calibri Light"/>
              </a:rPr>
              <a:t>Derivativo alto antecipa o erro e amortece a resposta mais rapidamente.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418320" y="5394960"/>
            <a:ext cx="73152" cy="1737360"/>
          </a:xfrm>
          <a:prstGeom prst="rect">
            <a:avLst/>
          </a:prstGeom>
          <a:solidFill>
            <a:srgbClr val="1B27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692640" y="53949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B274B"/>
                </a:solidFill>
                <a:latin typeface="Calibri"/>
              </a:rPr>
              <a:t>Sobressinal leve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92640" y="5897880"/>
            <a:ext cx="8229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55657A"/>
                </a:solidFill>
                <a:latin typeface="Calibri Light"/>
              </a:rPr>
              <a:t>Sistema ultrapassa o setpoint com ~19,5%, dentro de faixas aceitáveis.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418320" y="7406640"/>
            <a:ext cx="73152" cy="1737360"/>
          </a:xfrm>
          <a:prstGeom prst="rect">
            <a:avLst/>
          </a:prstGeom>
          <a:solidFill>
            <a:srgbClr val="1B27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692640" y="740664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B274B"/>
                </a:solidFill>
                <a:latin typeface="Calibri"/>
              </a:rPr>
              <a:t>Menos inércia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92640" y="7909560"/>
            <a:ext cx="8229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55657A"/>
                </a:solidFill>
                <a:latin typeface="Calibri Light"/>
              </a:rPr>
              <a:t>Combinação Kp/Td reduz o tempo de acomodação frente ao caso anterior.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916400" y="982980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5657A"/>
                </a:solidFill>
                <a:latin typeface="Calibri Light"/>
              </a:rPr>
              <a:t>18 / 21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7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28600" cy="10287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7190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Calibri"/>
              </a:rPr>
              <a:t>Conclusão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7282160" cy="254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48640" y="1371600"/>
            <a:ext cx="5394960" cy="7772400"/>
          </a:xfrm>
          <a:prstGeom prst="rect">
            <a:avLst/>
          </a:prstGeom>
          <a:solidFill>
            <a:srgbClr val="22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48640" y="1371600"/>
            <a:ext cx="5394960" cy="594360"/>
          </a:xfrm>
          <a:prstGeom prst="rect">
            <a:avLst/>
          </a:prstGeom>
          <a:solidFill>
            <a:srgbClr val="1B27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141732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Identificação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057400"/>
            <a:ext cx="5029200" cy="68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AAD6D4"/>
                </a:solidFill>
                <a:latin typeface="Calibri Light"/>
              </a:rPr>
              <a:t>Ambos os métodos (Smith e Sundaresan) geraram modelos matemáticos FOPDT equivalentes e altamente precisos para representar a planta térmica.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63640" y="1371600"/>
            <a:ext cx="5394960" cy="7772400"/>
          </a:xfrm>
          <a:prstGeom prst="rect">
            <a:avLst/>
          </a:prstGeom>
          <a:solidFill>
            <a:srgbClr val="22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263640" y="1371600"/>
            <a:ext cx="5394960" cy="59436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46520" y="141732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Sintonia — IMC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2057400"/>
            <a:ext cx="5029200" cy="68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AAD6D4"/>
                </a:solidFill>
                <a:latin typeface="Calibri Light"/>
              </a:rPr>
              <a:t>Apresentou o melhor desempenho geral. O controlador cancelou a dinâmica da planta perfeitamente, entregando estabilização muito mais rápida (ts = 78s), mantendo a robustez.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1978640" y="1371600"/>
            <a:ext cx="5394960" cy="7772400"/>
          </a:xfrm>
          <a:prstGeom prst="rect">
            <a:avLst/>
          </a:prstGeom>
          <a:solidFill>
            <a:srgbClr val="22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11978640" y="1371600"/>
            <a:ext cx="5394960" cy="594360"/>
          </a:xfrm>
          <a:prstGeom prst="rect">
            <a:avLst/>
          </a:prstGeom>
          <a:solidFill>
            <a:srgbClr val="006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2161520" y="141732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Sintonia — ITAE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161520" y="2057400"/>
            <a:ext cx="5029200" cy="68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AAD6D4"/>
                </a:solidFill>
                <a:latin typeface="Calibri Light"/>
              </a:rPr>
              <a:t>Comportamento conservador. Garantiu erro nulo e estabilidade absoluta (mp = 0%), mas resultou em um tempo de acomodação mais lento (ts = 118s).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916400" y="982980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090A0"/>
                </a:solidFill>
                <a:latin typeface="Calibri Light"/>
              </a:rPr>
              <a:t>19 / 21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7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28600" cy="10287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7190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Calibri"/>
              </a:rPr>
              <a:t>Melhorias Futuras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7282160" cy="254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48640" y="1371600"/>
            <a:ext cx="5394960" cy="7772400"/>
          </a:xfrm>
          <a:prstGeom prst="rect">
            <a:avLst/>
          </a:prstGeom>
          <a:solidFill>
            <a:srgbClr val="22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1097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0" b="1" i="0">
                <a:solidFill>
                  <a:srgbClr val="008B8B"/>
                </a:solidFill>
                <a:latin typeface="Calibri"/>
              </a:rPr>
              <a:t>01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606040"/>
            <a:ext cx="5029200" cy="254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274320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Inserção de mais
métodos de sintonia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20624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AAD6D4"/>
                </a:solidFill>
                <a:latin typeface="Calibri Light"/>
              </a:rPr>
              <a:t>Ampliar o repertório com CHR, Ziegler-Nichols e outros métodos clássicos.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63640" y="1371600"/>
            <a:ext cx="5394960" cy="7772400"/>
          </a:xfrm>
          <a:prstGeom prst="rect">
            <a:avLst/>
          </a:prstGeom>
          <a:solidFill>
            <a:srgbClr val="22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46520" y="1463040"/>
            <a:ext cx="1097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0" b="1" i="0">
                <a:solidFill>
                  <a:srgbClr val="008B8B"/>
                </a:solidFill>
                <a:latin typeface="Calibri"/>
              </a:rPr>
              <a:t>02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46520" y="2606040"/>
            <a:ext cx="5029200" cy="254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46520" y="274320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Tela comparativa
de parâmetros PID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420624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AAD6D4"/>
                </a:solidFill>
                <a:latin typeface="Calibri Light"/>
              </a:rPr>
              <a:t>Exibir os resultados de todos os métodos lado a lado para facilitar a análise.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1978640" y="1371600"/>
            <a:ext cx="5394960" cy="7772400"/>
          </a:xfrm>
          <a:prstGeom prst="rect">
            <a:avLst/>
          </a:prstGeom>
          <a:solidFill>
            <a:srgbClr val="22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2161520" y="1463040"/>
            <a:ext cx="1097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0" b="1" i="0">
                <a:solidFill>
                  <a:srgbClr val="008B8B"/>
                </a:solidFill>
                <a:latin typeface="Calibri"/>
              </a:rPr>
              <a:t>03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2161520" y="2606040"/>
            <a:ext cx="5029200" cy="254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2161520" y="274320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Cadastro
de usuário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161520" y="420624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AAD6D4"/>
                </a:solidFill>
                <a:latin typeface="Calibri Light"/>
              </a:rPr>
              <a:t>Permitir que múltiplos usuários salvem e gerenciem seus datasets e resultados.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916400" y="982980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090A0"/>
                </a:solidFill>
                <a:latin typeface="Calibri Light"/>
              </a:rPr>
              <a:t>20 / 21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7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6400800" cy="10287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3200400"/>
            <a:ext cx="56692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 i="0">
                <a:solidFill>
                  <a:srgbClr val="FFFFFF"/>
                </a:solidFill>
                <a:latin typeface="Calibri"/>
              </a:rPr>
              <a:t>Obrigado!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5120640"/>
            <a:ext cx="5029200" cy="25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5303520"/>
            <a:ext cx="56692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FFFFFF"/>
                </a:solidFill>
                <a:latin typeface="Calibri Light"/>
              </a:rPr>
              <a:t>Eduardo Pereira Valias
Vinícius Telles e Silva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0" y="0"/>
            <a:ext cx="11887200" cy="10287000"/>
          </a:xfrm>
          <a:prstGeom prst="rect">
            <a:avLst/>
          </a:prstGeom>
          <a:solidFill>
            <a:srgbClr val="1B27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858000" y="38404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AAD6D4"/>
                </a:solidFill>
                <a:latin typeface="Calibri Light"/>
              </a:rPr>
              <a:t>C213 — Sistemas de Controle Automático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0" y="4663440"/>
            <a:ext cx="10972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  <a:latin typeface="Calibri"/>
              </a:rPr>
              <a:t>Identificação de Processos &amp;
Sintonia de Controladores PID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0" y="982980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090A0"/>
                </a:solidFill>
                <a:latin typeface="Calibri Light"/>
              </a:rPr>
              <a:t>21 / 21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48</TotalTime>
  <Words>633</Words>
  <Application>Microsoft Office PowerPoint</Application>
  <PresentationFormat>Personalizar</PresentationFormat>
  <Paragraphs>172</Paragraphs>
  <Slides>21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21</vt:i4>
      </vt:variant>
    </vt:vector>
  </HeadingPairs>
  <TitlesOfParts>
    <vt:vector size="25" baseType="lpstr">
      <vt:lpstr>Arial</vt:lpstr>
      <vt:lpstr>Calibri</vt:lpstr>
      <vt:lpstr>Calibri Light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subject/>
  <dc:creator>Eduardo Valias</dc:creator>
  <cp:keywords/>
  <dc:description>generated using python-pptx</dc:description>
  <cp:lastModifiedBy>EDUARDO PEREIRA VALIAS</cp:lastModifiedBy>
  <cp:revision>3</cp:revision>
  <dcterms:created xsi:type="dcterms:W3CDTF">2013-01-27T09:14:16Z</dcterms:created>
  <dcterms:modified xsi:type="dcterms:W3CDTF">2026-05-05T02:31:50Z</dcterms:modified>
  <cp:category/>
</cp:coreProperties>
</file>