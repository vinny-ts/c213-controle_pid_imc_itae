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7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00" cy="10287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0"/>
            <a:ext cx="1188720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400800" y="0"/>
            <a:ext cx="11887200" cy="10287000"/>
          </a:xfrm>
          <a:prstGeom prst="rect">
            <a:avLst/>
          </a:prstGeom>
          <a:solidFill>
            <a:srgbClr val="1B2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0" y="0"/>
            <a:ext cx="11887200" cy="10287000"/>
          </a:xfrm>
          <a:prstGeom prst="rect">
            <a:avLst/>
          </a:prstGeom>
          <a:solidFill>
            <a:srgbClr val="1B274B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5669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600" b="1" i="0">
                <a:solidFill>
                  <a:srgbClr val="FFFFFF"/>
                </a:solidFill>
                <a:latin typeface="Calibri"/>
              </a:rPr>
              <a:t>CONTROLE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108960"/>
            <a:ext cx="5669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0" b="1" i="0">
                <a:solidFill>
                  <a:srgbClr val="1B274B"/>
                </a:solidFill>
                <a:latin typeface="Calibri"/>
              </a:rPr>
              <a:t>PID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92240"/>
            <a:ext cx="502920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75120"/>
            <a:ext cx="5669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 Light"/>
              </a:rPr>
              <a:t>Eduardo Pereira Valias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7178040"/>
            <a:ext cx="5669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 Light"/>
              </a:rPr>
              <a:t>Vinícius Telles e Silva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200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AAD6D4"/>
                </a:solidFill>
                <a:latin typeface="Calibri Light"/>
              </a:rPr>
              <a:t>C213 — Sistemas de Controle Automático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41148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Identificação de Processos &amp;
Sintonia de Controladores PID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0" y="98298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090A0"/>
                </a:solidFill>
                <a:latin typeface="Calibri Light"/>
              </a:rPr>
              <a:t>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10287000"/>
          </a:xfrm>
          <a:prstGeom prst="rect">
            <a:avLst/>
          </a:prstGeom>
          <a:solidFill>
            <a:srgbClr val="1B2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7190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1B274B"/>
                </a:solidFill>
                <a:latin typeface="Calibri"/>
              </a:rPr>
              <a:t>Visão Geral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7282160" cy="25400"/>
          </a:xfrm>
          <a:prstGeom prst="rect">
            <a:avLst/>
          </a:prstGeom>
          <a:solidFill>
            <a:srgbClr val="1B2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80160"/>
            <a:ext cx="6400800" cy="90068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280160"/>
            <a:ext cx="6400800" cy="9006840"/>
          </a:xfrm>
          <a:prstGeom prst="rect">
            <a:avLst/>
          </a:prstGeom>
          <a:solidFill>
            <a:srgbClr val="1B2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280160"/>
            <a:ext cx="6400800" cy="9006840"/>
          </a:xfrm>
          <a:prstGeom prst="rect">
            <a:avLst/>
          </a:prstGeom>
          <a:solidFill>
            <a:srgbClr val="1B274B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6304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Métodos de Sintonia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148840"/>
            <a:ext cx="5760720" cy="25400"/>
          </a:xfrm>
          <a:prstGeom prst="rect">
            <a:avLst/>
          </a:prstGeom>
          <a:solidFill>
            <a:srgbClr val="AAD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2377440"/>
            <a:ext cx="73152" cy="100584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42316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IMC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8803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AD6D4"/>
                </a:solidFill>
                <a:latin typeface="Calibri Light"/>
              </a:rPr>
              <a:t>Internal Model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657600"/>
            <a:ext cx="73152" cy="100584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70332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ITAE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1605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AD6D4"/>
                </a:solidFill>
                <a:latin typeface="Calibri Light"/>
              </a:rPr>
              <a:t>Integral of Time-weighted Absolute Error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5120" y="1371600"/>
            <a:ext cx="11338560" cy="8823960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0" y="155448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B274B"/>
                </a:solidFill>
                <a:latin typeface="Calibri"/>
              </a:rPr>
              <a:t>Dataset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49440" y="2240280"/>
            <a:ext cx="10789920" cy="25400"/>
          </a:xfrm>
          <a:prstGeom prst="rect">
            <a:avLst/>
          </a:prstGeom>
          <a:solidFill>
            <a:srgbClr val="1B2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0" y="237744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55657A"/>
                </a:solidFill>
                <a:latin typeface="Calibri Light"/>
              </a:rPr>
              <a:t>Dataset_Grupo5_c213.mat</a:t>
            </a:r>
          </a:p>
        </p:txBody>
      </p:sp>
      <p:pic>
        <p:nvPicPr>
          <p:cNvPr id="20" name="Picture 19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3200400"/>
            <a:ext cx="10515600" cy="65836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6916400" y="98298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657A"/>
                </a:solidFill>
                <a:latin typeface="Calibri Light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74B"/>
        </a:solidFill>
        <a:effectLst/>
      </p:bgPr>
    </p:bg>
    <p:spTree>
      <p:sp>
        <p:nvSpPr>
          <p:cNvPr id="1" name="Rectangle 0"/>
          <p:cNvSpPr/>
          <p:nvPr/>
        </p:nvSpPr>
        <p:spPr>
          <a:xfrm>
            <a:off x="0" y="0"/>
            <a:ext cx="228600" cy="10287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0040"/>
            <a:ext cx="17190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Interface Gráfica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43000"/>
            <a:ext cx="17282160" cy="254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7315200" cy="7955279"/>
          </a:xfrm>
          <a:prstGeom prst="rect">
            <a:avLst/>
          </a:prstGeom>
        </p:spPr>
      </p:pic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371600"/>
            <a:ext cx="9784080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0" y="98298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090A0"/>
                </a:solidFill>
                <a:latin typeface="Calibri Light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7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10287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7190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Comparação de Malhas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7282160" cy="254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7373600" cy="8412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0" y="98298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090A0"/>
                </a:solidFill>
                <a:latin typeface="Calibri Light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7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10287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7190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Métodos de Identificação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7282160" cy="254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8595360" cy="59436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Smith</a:t>
            </a:r>
          </a:p>
        </p:txBody>
      </p:sp>
      <p:sp>
        <p:nvSpPr>
          <p:cNvPr id="7" name="Rectangle 6"/>
          <p:cNvSpPr/>
          <p:nvPr/>
        </p:nvSpPr>
        <p:spPr>
          <a:xfrm>
            <a:off x="9464040" y="1371600"/>
            <a:ext cx="8595360" cy="594360"/>
          </a:xfrm>
          <a:prstGeom prst="rect">
            <a:avLst/>
          </a:prstGeom>
          <a:solidFill>
            <a:srgbClr val="00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141732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Sundaresan</a:t>
            </a:r>
          </a:p>
        </p:txBody>
      </p:sp>
      <p:pic>
        <p:nvPicPr>
          <p:cNvPr id="9" name="Picture 8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57400"/>
            <a:ext cx="8595360" cy="6858000"/>
          </a:xfrm>
          <a:prstGeom prst="rect">
            <a:avLst/>
          </a:prstGeom>
        </p:spPr>
      </p:pic>
      <p:pic>
        <p:nvPicPr>
          <p:cNvPr id="10" name="Picture 9" descr="image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1160" y="2057400"/>
            <a:ext cx="8686800" cy="6858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6916400" y="98298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090A0"/>
                </a:solidFill>
                <a:latin typeface="Calibri Light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10287000"/>
          </a:xfrm>
          <a:prstGeom prst="rect">
            <a:avLst/>
          </a:prstGeom>
          <a:solidFill>
            <a:srgbClr val="1B2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7190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1B274B"/>
                </a:solidFill>
                <a:latin typeface="Calibri"/>
              </a:rPr>
              <a:t>Smith — Parâmetros Identificados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7282160" cy="25400"/>
          </a:xfrm>
          <a:prstGeom prst="rect">
            <a:avLst/>
          </a:prstGeom>
          <a:solidFill>
            <a:srgbClr val="1B2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10515600" cy="749807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972800" y="1371600"/>
            <a:ext cx="7132320" cy="1600200"/>
          </a:xfrm>
          <a:prstGeom prst="rect">
            <a:avLst/>
          </a:prstGeom>
          <a:solidFill>
            <a:srgbClr val="AAD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09960" y="146304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657A"/>
                </a:solidFill>
                <a:latin typeface="Calibri Light"/>
              </a:rPr>
              <a:t>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1755648"/>
            <a:ext cx="6858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74B"/>
                </a:solidFill>
                <a:latin typeface="Calibri"/>
              </a:rPr>
              <a:t>0.5898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0" y="3246120"/>
            <a:ext cx="7132320" cy="1600200"/>
          </a:xfrm>
          <a:prstGeom prst="rect">
            <a:avLst/>
          </a:prstGeom>
          <a:solidFill>
            <a:srgbClr val="AAD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09960" y="333756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657A"/>
                </a:solidFill>
                <a:latin typeface="Calibri Light"/>
              </a:rPr>
              <a:t>τ (tau)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3630168"/>
            <a:ext cx="6858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74B"/>
                </a:solidFill>
                <a:latin typeface="Calibri"/>
              </a:rPr>
              <a:t>40.5000 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0" y="5120640"/>
            <a:ext cx="7132320" cy="1600200"/>
          </a:xfrm>
          <a:prstGeom prst="rect">
            <a:avLst/>
          </a:prstGeom>
          <a:solidFill>
            <a:srgbClr val="AAD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09960" y="52120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657A"/>
                </a:solidFill>
                <a:latin typeface="Calibri Light"/>
              </a:rPr>
              <a:t>θ (theta)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5504688"/>
            <a:ext cx="6858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74B"/>
                </a:solidFill>
                <a:latin typeface="Calibri"/>
              </a:rPr>
              <a:t>18.0000 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0" y="6995160"/>
            <a:ext cx="7132320" cy="1600200"/>
          </a:xfrm>
          <a:prstGeom prst="rect">
            <a:avLst/>
          </a:prstGeom>
          <a:solidFill>
            <a:srgbClr val="AAD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09960" y="70866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657A"/>
                </a:solidFill>
                <a:latin typeface="Calibri Light"/>
              </a:rPr>
              <a:t>E (EQM)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7379208"/>
            <a:ext cx="6858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74B"/>
                </a:solidFill>
                <a:latin typeface="Calibri"/>
              </a:rPr>
              <a:t>0.2650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0" y="98298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657A"/>
                </a:solidFill>
                <a:latin typeface="Calibri Light"/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10287000"/>
          </a:xfrm>
          <a:prstGeom prst="rect">
            <a:avLst/>
          </a:prstGeom>
          <a:solidFill>
            <a:srgbClr val="1B2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7190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1B274B"/>
                </a:solidFill>
                <a:latin typeface="Calibri"/>
              </a:rPr>
              <a:t>Sundaresan — Parâmetros Identificados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7282160" cy="25400"/>
          </a:xfrm>
          <a:prstGeom prst="rect">
            <a:avLst/>
          </a:prstGeom>
          <a:solidFill>
            <a:srgbClr val="1B2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10515600" cy="749807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972800" y="1371600"/>
            <a:ext cx="7132320" cy="1600200"/>
          </a:xfrm>
          <a:prstGeom prst="rect">
            <a:avLst/>
          </a:prstGeom>
          <a:solidFill>
            <a:srgbClr val="AAD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09960" y="146304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657A"/>
                </a:solidFill>
                <a:latin typeface="Calibri Light"/>
              </a:rPr>
              <a:t>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1755648"/>
            <a:ext cx="6858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74B"/>
                </a:solidFill>
                <a:latin typeface="Calibri"/>
              </a:rPr>
              <a:t>0.5898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0" y="3246120"/>
            <a:ext cx="7132320" cy="1600200"/>
          </a:xfrm>
          <a:prstGeom prst="rect">
            <a:avLst/>
          </a:prstGeom>
          <a:solidFill>
            <a:srgbClr val="AAD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09960" y="333756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657A"/>
                </a:solidFill>
                <a:latin typeface="Calibri Light"/>
              </a:rPr>
              <a:t>τ (tau)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3630168"/>
            <a:ext cx="6858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74B"/>
                </a:solidFill>
                <a:latin typeface="Calibri"/>
              </a:rPr>
              <a:t>40.6667 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0" y="5120640"/>
            <a:ext cx="7132320" cy="1600200"/>
          </a:xfrm>
          <a:prstGeom prst="rect">
            <a:avLst/>
          </a:prstGeom>
          <a:solidFill>
            <a:srgbClr val="AAD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09960" y="52120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657A"/>
                </a:solidFill>
                <a:latin typeface="Calibri Light"/>
              </a:rPr>
              <a:t>θ (theta)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5504688"/>
            <a:ext cx="6858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74B"/>
                </a:solidFill>
                <a:latin typeface="Calibri"/>
              </a:rPr>
              <a:t>18.1650 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0" y="6995160"/>
            <a:ext cx="7132320" cy="1600200"/>
          </a:xfrm>
          <a:prstGeom prst="rect">
            <a:avLst/>
          </a:prstGeom>
          <a:solidFill>
            <a:srgbClr val="AAD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09960" y="70866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657A"/>
                </a:solidFill>
                <a:latin typeface="Calibri Light"/>
              </a:rPr>
              <a:t>E (EQM)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7379208"/>
            <a:ext cx="6858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74B"/>
                </a:solidFill>
                <a:latin typeface="Calibri"/>
              </a:rPr>
              <a:t>0.3166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0" y="98298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657A"/>
                </a:solidFill>
                <a:latin typeface="Calibri Light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7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10287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7190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Métodos de Sintonia PID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7282160" cy="254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8595360" cy="59436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IMC</a:t>
            </a:r>
          </a:p>
        </p:txBody>
      </p:sp>
      <p:pic>
        <p:nvPicPr>
          <p:cNvPr id="7" name="Picture 6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57400"/>
            <a:ext cx="8595360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371600"/>
            <a:ext cx="8595360" cy="594360"/>
          </a:xfrm>
          <a:prstGeom prst="rect">
            <a:avLst/>
          </a:prstGeom>
          <a:solidFill>
            <a:srgbClr val="00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141732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ITAE</a:t>
            </a:r>
          </a:p>
        </p:txBody>
      </p:sp>
      <p:pic>
        <p:nvPicPr>
          <p:cNvPr id="10" name="Picture 9" descr="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2057400"/>
            <a:ext cx="8595360" cy="6858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6916400" y="98298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090A0"/>
                </a:solidFill>
                <a:latin typeface="Calibri Light"/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7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10287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7190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IMC — Parâmetros do Controlador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7282160" cy="254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0241280" cy="442866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064240" y="1371600"/>
            <a:ext cx="3383280" cy="1554480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01400" y="1463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AD6D4"/>
                </a:solidFill>
                <a:latin typeface="Calibri Light"/>
              </a:rPr>
              <a:t>Kp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1755648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3.1082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30400" y="1371600"/>
            <a:ext cx="3383280" cy="1554480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767560" y="1463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AD6D4"/>
                </a:solidFill>
                <a:latin typeface="Calibri Light"/>
              </a:rPr>
              <a:t>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767560" y="1755648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49.5000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3200400"/>
            <a:ext cx="3383280" cy="1554480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01400" y="3291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AD6D4"/>
                </a:solidFill>
                <a:latin typeface="Calibri Light"/>
              </a:rPr>
              <a:t>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3584448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7.3636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00" y="3200400"/>
            <a:ext cx="3383280" cy="1554480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767560" y="3291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AD6D4"/>
                </a:solidFill>
                <a:latin typeface="Calibri Light"/>
              </a:rPr>
              <a:t>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767560" y="3584448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83.1572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0" y="98298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090A0"/>
                </a:solidFill>
                <a:latin typeface="Calibri Light"/>
              </a:rP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7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10287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7190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IMC — Métricas de Desempenho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7282160" cy="254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0241280" cy="442866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064240" y="1371600"/>
            <a:ext cx="3383280" cy="1554480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01400" y="1463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AD6D4"/>
                </a:solidFill>
                <a:latin typeface="Calibri Light"/>
              </a:rPr>
              <a:t>ts (Tempo de Acomodação)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1755648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78.5603 s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30400" y="1371600"/>
            <a:ext cx="3383280" cy="1554480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767560" y="1463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AD6D4"/>
                </a:solidFill>
                <a:latin typeface="Calibri Light"/>
              </a:rPr>
              <a:t>tr (Tempo de Subida)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767560" y="1755648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33.4481 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3200400"/>
            <a:ext cx="3383280" cy="1554480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01400" y="3291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AD6D4"/>
                </a:solidFill>
                <a:latin typeface="Calibri Light"/>
              </a:rPr>
              <a:t>Mp (Overshoot)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3584448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0 %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00" y="3200400"/>
            <a:ext cx="3383280" cy="1554480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767560" y="3291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AD6D4"/>
                </a:solidFill>
                <a:latin typeface="Calibri Light"/>
              </a:rPr>
              <a:t>Erro (Regime Permanente)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767560" y="3584448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0.0793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0" y="98298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090A0"/>
                </a:solidFill>
                <a:latin typeface="Calibri Light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10287000"/>
          </a:xfrm>
          <a:prstGeom prst="rect">
            <a:avLst/>
          </a:prstGeom>
          <a:solidFill>
            <a:srgbClr val="1B2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7190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1B274B"/>
                </a:solidFill>
                <a:latin typeface="Calibri"/>
              </a:rPr>
              <a:t>ITAE — Parâmetros do Controlador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7282160" cy="25400"/>
          </a:xfrm>
          <a:prstGeom prst="rect">
            <a:avLst/>
          </a:prstGeom>
          <a:solidFill>
            <a:srgbClr val="1B2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0241280" cy="442866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064240" y="1371600"/>
            <a:ext cx="3383280" cy="1554480"/>
          </a:xfrm>
          <a:prstGeom prst="rect">
            <a:avLst/>
          </a:prstGeom>
          <a:solidFill>
            <a:srgbClr val="AAD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01400" y="1463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657A"/>
                </a:solidFill>
                <a:latin typeface="Calibri Light"/>
              </a:rPr>
              <a:t>Kp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1755648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74B"/>
                </a:solidFill>
                <a:latin typeface="Calibri"/>
              </a:rPr>
              <a:t>3.2595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30400" y="1371600"/>
            <a:ext cx="3383280" cy="1554480"/>
          </a:xfrm>
          <a:prstGeom prst="rect">
            <a:avLst/>
          </a:prstGeom>
          <a:solidFill>
            <a:srgbClr val="AAD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767560" y="1463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657A"/>
                </a:solidFill>
                <a:latin typeface="Calibri Light"/>
              </a:rPr>
              <a:t>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767560" y="1755648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74B"/>
                </a:solidFill>
                <a:latin typeface="Calibri"/>
              </a:rPr>
              <a:t>55.4288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3200400"/>
            <a:ext cx="3383280" cy="1554480"/>
          </a:xfrm>
          <a:prstGeom prst="rect">
            <a:avLst/>
          </a:prstGeom>
          <a:solidFill>
            <a:srgbClr val="AAD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01400" y="3291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657A"/>
                </a:solidFill>
                <a:latin typeface="Calibri Light"/>
              </a:rPr>
              <a:t>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3584448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74B"/>
                </a:solidFill>
                <a:latin typeface="Calibri"/>
              </a:rPr>
              <a:t>5.8762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00" y="3200400"/>
            <a:ext cx="3383280" cy="1554480"/>
          </a:xfrm>
          <a:prstGeom prst="rect">
            <a:avLst/>
          </a:prstGeom>
          <a:solidFill>
            <a:srgbClr val="AAD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767560" y="3291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657A"/>
                </a:solidFill>
                <a:latin typeface="Calibri Light"/>
              </a:rPr>
              <a:t>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767560" y="3584448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74B"/>
                </a:solidFill>
                <a:latin typeface="Calibri"/>
              </a:rPr>
              <a:t>83.1562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0" y="98298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657A"/>
                </a:solidFill>
                <a:latin typeface="Calibri Light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10287000"/>
          </a:xfrm>
          <a:prstGeom prst="rect">
            <a:avLst/>
          </a:prstGeom>
          <a:solidFill>
            <a:srgbClr val="1B2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7190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1B274B"/>
                </a:solidFill>
                <a:latin typeface="Calibri"/>
              </a:rPr>
              <a:t>ITAE — Métricas de Desempenho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7282160" cy="25400"/>
          </a:xfrm>
          <a:prstGeom prst="rect">
            <a:avLst/>
          </a:prstGeom>
          <a:solidFill>
            <a:srgbClr val="1B2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0241280" cy="442866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064240" y="1371600"/>
            <a:ext cx="3383280" cy="1554480"/>
          </a:xfrm>
          <a:prstGeom prst="rect">
            <a:avLst/>
          </a:prstGeom>
          <a:solidFill>
            <a:srgbClr val="AAD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01400" y="1463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657A"/>
                </a:solidFill>
                <a:latin typeface="Calibri Light"/>
              </a:rPr>
              <a:t>ts (Tempo de Acomodação)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1755648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74B"/>
                </a:solidFill>
                <a:latin typeface="Calibri"/>
              </a:rPr>
              <a:t>118.2950 s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30400" y="1371600"/>
            <a:ext cx="3383280" cy="1554480"/>
          </a:xfrm>
          <a:prstGeom prst="rect">
            <a:avLst/>
          </a:prstGeom>
          <a:solidFill>
            <a:srgbClr val="AAD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767560" y="1463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657A"/>
                </a:solidFill>
                <a:latin typeface="Calibri Light"/>
              </a:rPr>
              <a:t>tr (Tempo de Subida)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767560" y="1755648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74B"/>
                </a:solidFill>
                <a:latin typeface="Calibri"/>
              </a:rPr>
              <a:t>33.7334 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3200400"/>
            <a:ext cx="3383280" cy="1554480"/>
          </a:xfrm>
          <a:prstGeom prst="rect">
            <a:avLst/>
          </a:prstGeom>
          <a:solidFill>
            <a:srgbClr val="AAD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01400" y="3291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657A"/>
                </a:solidFill>
                <a:latin typeface="Calibri Light"/>
              </a:rPr>
              <a:t>Mp (Overshoot)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3584448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74B"/>
                </a:solidFill>
                <a:latin typeface="Calibri"/>
              </a:rPr>
              <a:t>0.0000 %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00" y="3200400"/>
            <a:ext cx="3383280" cy="1554480"/>
          </a:xfrm>
          <a:prstGeom prst="rect">
            <a:avLst/>
          </a:prstGeom>
          <a:solidFill>
            <a:srgbClr val="AAD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767560" y="3291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657A"/>
                </a:solidFill>
                <a:latin typeface="Calibri Light"/>
              </a:rPr>
              <a:t>Erro (Regime Permanente)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767560" y="3584448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74B"/>
                </a:solidFill>
                <a:latin typeface="Calibri"/>
              </a:rPr>
              <a:t>0.0142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0" y="98298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657A"/>
                </a:solidFill>
                <a:latin typeface="Calibri Light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7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10287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7190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Manual — Overshoot (Parâmetros)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7282160" cy="254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0241280" cy="442866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064240" y="1371600"/>
            <a:ext cx="3383280" cy="1554480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01400" y="1463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AD6D4"/>
                </a:solidFill>
                <a:latin typeface="Calibri Light"/>
              </a:rPr>
              <a:t>Kp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1755648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5.800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30400" y="1371600"/>
            <a:ext cx="3383280" cy="1554480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767560" y="1463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AD6D4"/>
                </a:solidFill>
                <a:latin typeface="Calibri Light"/>
              </a:rPr>
              <a:t>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767560" y="1755648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25.0000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3200400"/>
            <a:ext cx="3383280" cy="1554480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01400" y="3291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AD6D4"/>
                </a:solidFill>
                <a:latin typeface="Calibri Light"/>
              </a:rPr>
              <a:t>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3584448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6.0000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00" y="3200400"/>
            <a:ext cx="3383280" cy="1554480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767560" y="3291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AD6D4"/>
                </a:solidFill>
                <a:latin typeface="Calibri Light"/>
              </a:rPr>
              <a:t>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767560" y="3584448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0" y="98298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090A0"/>
                </a:solidFill>
                <a:latin typeface="Calibri Light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7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10287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7190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Manual — Overshoot (Métricas)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7282160" cy="254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0241280" cy="442866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064240" y="1371600"/>
            <a:ext cx="3383280" cy="1554480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01400" y="1463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AD6D4"/>
                </a:solidFill>
                <a:latin typeface="Calibri Light"/>
              </a:rPr>
              <a:t>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1755648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190.9211 s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30400" y="1371600"/>
            <a:ext cx="3383280" cy="1554480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767560" y="1463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AD6D4"/>
                </a:solidFill>
                <a:latin typeface="Calibri Light"/>
              </a:rPr>
              <a:t>tr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767560" y="1755648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23.0392 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3200400"/>
            <a:ext cx="3383280" cy="1554480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01400" y="3291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AD6D4"/>
                </a:solidFill>
                <a:latin typeface="Calibri Light"/>
              </a:rPr>
              <a:t>Mp (Overshoot)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3584448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93.9031 %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00" y="3200400"/>
            <a:ext cx="3383280" cy="1554480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767560" y="3291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AD6D4"/>
                </a:solidFill>
                <a:latin typeface="Calibri Light"/>
              </a:rPr>
              <a:t>Erro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767560" y="3584448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82.1567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0" y="98298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090A0"/>
                </a:solidFill>
                <a:latin typeface="Calibri Light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7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10287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7190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Manual — Overshoot (Análise)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7282160" cy="254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6868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418320" y="1371600"/>
            <a:ext cx="73152" cy="173736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0" y="1371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Kp alto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187452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AD6D4"/>
                </a:solidFill>
                <a:latin typeface="Calibri Light"/>
              </a:rPr>
              <a:t>Ganho proporcional elevado amplifica o sinal de controle, forçando resposta agressiva.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418320" y="3383280"/>
            <a:ext cx="73152" cy="173736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33832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Ti baixo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388620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AD6D4"/>
                </a:solidFill>
                <a:latin typeface="Calibri Light"/>
              </a:rPr>
              <a:t>Tempo integral reduzido gera ação integral forte — acúmulo rápido do erro.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18320" y="5394960"/>
            <a:ext cx="73152" cy="173736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0" y="53949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Ação integral forte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589788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AD6D4"/>
                </a:solidFill>
                <a:latin typeface="Calibri Light"/>
              </a:rPr>
              <a:t>Integrador "empurra" a saída além do setpoint causando overshooting.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18320" y="7406640"/>
            <a:ext cx="73152" cy="173736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0" y="74066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Inércia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790956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AD6D4"/>
                </a:solidFill>
                <a:latin typeface="Calibri Light"/>
              </a:rPr>
              <a:t>O sistema demora a corrigir a ultrapassagem, resultando em longa acomodação.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0" y="98298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090A0"/>
                </a:solidFill>
                <a:latin typeface="Calibri Light"/>
              </a:rP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10287000"/>
          </a:xfrm>
          <a:prstGeom prst="rect">
            <a:avLst/>
          </a:prstGeom>
          <a:solidFill>
            <a:srgbClr val="1B2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7190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1B274B"/>
                </a:solidFill>
                <a:latin typeface="Calibri"/>
              </a:rPr>
              <a:t>Manual — Subamortecido (Parâmetros)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7282160" cy="25400"/>
          </a:xfrm>
          <a:prstGeom prst="rect">
            <a:avLst/>
          </a:prstGeom>
          <a:solidFill>
            <a:srgbClr val="1B2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0241280" cy="442866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064240" y="1371600"/>
            <a:ext cx="3383280" cy="1554480"/>
          </a:xfrm>
          <a:prstGeom prst="rect">
            <a:avLst/>
          </a:prstGeom>
          <a:solidFill>
            <a:srgbClr val="AAD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01400" y="1463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657A"/>
                </a:solidFill>
                <a:latin typeface="Calibri Light"/>
              </a:rPr>
              <a:t>Kp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1755648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74B"/>
                </a:solidFill>
                <a:latin typeface="Calibri"/>
              </a:rPr>
              <a:t>3.5000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30400" y="1371600"/>
            <a:ext cx="3383280" cy="1554480"/>
          </a:xfrm>
          <a:prstGeom prst="rect">
            <a:avLst/>
          </a:prstGeom>
          <a:solidFill>
            <a:srgbClr val="AAD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767560" y="1463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657A"/>
                </a:solidFill>
                <a:latin typeface="Calibri Light"/>
              </a:rPr>
              <a:t>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767560" y="1755648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74B"/>
                </a:solidFill>
                <a:latin typeface="Calibri"/>
              </a:rPr>
              <a:t>30.0000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3200400"/>
            <a:ext cx="3383280" cy="1554480"/>
          </a:xfrm>
          <a:prstGeom prst="rect">
            <a:avLst/>
          </a:prstGeom>
          <a:solidFill>
            <a:srgbClr val="AAD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01400" y="3291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657A"/>
                </a:solidFill>
                <a:latin typeface="Calibri Light"/>
              </a:rPr>
              <a:t>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3584448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74B"/>
                </a:solidFill>
                <a:latin typeface="Calibri"/>
              </a:rPr>
              <a:t>8.0000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00" y="3200400"/>
            <a:ext cx="3383280" cy="1554480"/>
          </a:xfrm>
          <a:prstGeom prst="rect">
            <a:avLst/>
          </a:prstGeom>
          <a:solidFill>
            <a:srgbClr val="AAD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767560" y="3291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657A"/>
                </a:solidFill>
                <a:latin typeface="Calibri Light"/>
              </a:rPr>
              <a:t>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767560" y="3584448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74B"/>
                </a:solidFill>
                <a:latin typeface="Calibri"/>
              </a:rPr>
              <a:t>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0" y="98298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657A"/>
                </a:solidFill>
                <a:latin typeface="Calibri Light"/>
              </a:rP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10287000"/>
          </a:xfrm>
          <a:prstGeom prst="rect">
            <a:avLst/>
          </a:prstGeom>
          <a:solidFill>
            <a:srgbClr val="1B2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7190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1B274B"/>
                </a:solidFill>
                <a:latin typeface="Calibri"/>
              </a:rPr>
              <a:t>Manual — Subamortecido (Métricas)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7282160" cy="25400"/>
          </a:xfrm>
          <a:prstGeom prst="rect">
            <a:avLst/>
          </a:prstGeom>
          <a:solidFill>
            <a:srgbClr val="1B2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0241280" cy="442866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064240" y="1371600"/>
            <a:ext cx="3383280" cy="1554480"/>
          </a:xfrm>
          <a:prstGeom prst="rect">
            <a:avLst/>
          </a:prstGeom>
          <a:solidFill>
            <a:srgbClr val="AAD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01400" y="1463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657A"/>
                </a:solidFill>
                <a:latin typeface="Calibri Light"/>
              </a:rPr>
              <a:t>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1755648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74B"/>
                </a:solidFill>
                <a:latin typeface="Calibri"/>
              </a:rPr>
              <a:t>111.9386 s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30400" y="1371600"/>
            <a:ext cx="3383280" cy="1554480"/>
          </a:xfrm>
          <a:prstGeom prst="rect">
            <a:avLst/>
          </a:prstGeom>
          <a:solidFill>
            <a:srgbClr val="AAD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767560" y="1463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657A"/>
                </a:solidFill>
                <a:latin typeface="Calibri Light"/>
              </a:rPr>
              <a:t>tr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767560" y="1755648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74B"/>
                </a:solidFill>
                <a:latin typeface="Calibri"/>
              </a:rPr>
              <a:t>28.8725 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3200400"/>
            <a:ext cx="3383280" cy="1554480"/>
          </a:xfrm>
          <a:prstGeom prst="rect">
            <a:avLst/>
          </a:prstGeom>
          <a:solidFill>
            <a:srgbClr val="AAD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01400" y="3291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657A"/>
                </a:solidFill>
                <a:latin typeface="Calibri Light"/>
              </a:rPr>
              <a:t>Mp (Overshoot)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3584448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74B"/>
                </a:solidFill>
                <a:latin typeface="Calibri"/>
              </a:rPr>
              <a:t>19.5108 %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00" y="3200400"/>
            <a:ext cx="3383280" cy="1554480"/>
          </a:xfrm>
          <a:prstGeom prst="rect">
            <a:avLst/>
          </a:prstGeom>
          <a:solidFill>
            <a:srgbClr val="AAD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767560" y="3291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657A"/>
                </a:solidFill>
                <a:latin typeface="Calibri Light"/>
              </a:rPr>
              <a:t>Erro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767560" y="3584448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74B"/>
                </a:solidFill>
                <a:latin typeface="Calibri"/>
              </a:rPr>
              <a:t>-0.0248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0" y="98298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657A"/>
                </a:solidFill>
                <a:latin typeface="Calibri Light"/>
              </a:rP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10287000"/>
          </a:xfrm>
          <a:prstGeom prst="rect">
            <a:avLst/>
          </a:prstGeom>
          <a:solidFill>
            <a:srgbClr val="1B2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7190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1B274B"/>
                </a:solidFill>
                <a:latin typeface="Calibri"/>
              </a:rPr>
              <a:t>Manual — Subamortecido (Análise)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7282160" cy="25400"/>
          </a:xfrm>
          <a:prstGeom prst="rect">
            <a:avLst/>
          </a:prstGeom>
          <a:solidFill>
            <a:srgbClr val="1B2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6868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418320" y="1371600"/>
            <a:ext cx="73152" cy="1737360"/>
          </a:xfrm>
          <a:prstGeom prst="rect">
            <a:avLst/>
          </a:prstGeom>
          <a:solidFill>
            <a:srgbClr val="1B2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0" y="1371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274B"/>
                </a:solidFill>
                <a:latin typeface="Calibri"/>
              </a:rPr>
              <a:t>Kp alto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187452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5657A"/>
                </a:solidFill>
                <a:latin typeface="Calibri Light"/>
              </a:rPr>
              <a:t>Ganho proporcional moderadamente elevado ainda acelera a resposta.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418320" y="3383280"/>
            <a:ext cx="73152" cy="1737360"/>
          </a:xfrm>
          <a:prstGeom prst="rect">
            <a:avLst/>
          </a:prstGeom>
          <a:solidFill>
            <a:srgbClr val="1B2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33832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274B"/>
                </a:solidFill>
                <a:latin typeface="Calibri"/>
              </a:rPr>
              <a:t>Td alto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388620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5657A"/>
                </a:solidFill>
                <a:latin typeface="Calibri Light"/>
              </a:rPr>
              <a:t>Derivativo alto antecipa o erro e amortece a resposta mais rapidamente.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18320" y="5394960"/>
            <a:ext cx="73152" cy="1737360"/>
          </a:xfrm>
          <a:prstGeom prst="rect">
            <a:avLst/>
          </a:prstGeom>
          <a:solidFill>
            <a:srgbClr val="1B2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0" y="53949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274B"/>
                </a:solidFill>
                <a:latin typeface="Calibri"/>
              </a:rPr>
              <a:t>Sobressinal leve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589788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5657A"/>
                </a:solidFill>
                <a:latin typeface="Calibri Light"/>
              </a:rPr>
              <a:t>Sistema ultrapassa o setpoint com ~19,5%, dentro de faixas aceitáveis.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18320" y="7406640"/>
            <a:ext cx="73152" cy="1737360"/>
          </a:xfrm>
          <a:prstGeom prst="rect">
            <a:avLst/>
          </a:prstGeom>
          <a:solidFill>
            <a:srgbClr val="1B2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0" y="74066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274B"/>
                </a:solidFill>
                <a:latin typeface="Calibri"/>
              </a:rPr>
              <a:t>Menos inércia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790956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5657A"/>
                </a:solidFill>
                <a:latin typeface="Calibri Light"/>
              </a:rPr>
              <a:t>Combinação Kp/Td reduz o tempo de acomodação frente ao caso anterior.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0" y="98298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657A"/>
                </a:solidFill>
                <a:latin typeface="Calibri Light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7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10287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7190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Conclusão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7282160" cy="254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5394960" cy="7772400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5394960" cy="594360"/>
          </a:xfrm>
          <a:prstGeom prst="rect">
            <a:avLst/>
          </a:prstGeom>
          <a:solidFill>
            <a:srgbClr val="1B2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Identificação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5029200" cy="68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AAD6D4"/>
                </a:solidFill>
                <a:latin typeface="Calibri Light"/>
              </a:rPr>
              <a:t>Ambos os métodos (Smith e Sundaresan) geraram modelos matemáticos FOPDT equivalentes e altamente precisos para representar a planta térmica.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371600"/>
            <a:ext cx="5394960" cy="7772400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371600"/>
            <a:ext cx="5394960" cy="59436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41732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Sintonia — IMC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057400"/>
            <a:ext cx="5029200" cy="68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AAD6D4"/>
                </a:solidFill>
                <a:latin typeface="Calibri Light"/>
              </a:rPr>
              <a:t>Apresentou o melhor desempenho geral. O controlador cancelou a dinâmica da planta perfeitamente, entregando estabilização muito mais rápida (ts = 78s), mantendo a robustez.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978640" y="1371600"/>
            <a:ext cx="5394960" cy="7772400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978640" y="1371600"/>
            <a:ext cx="5394960" cy="594360"/>
          </a:xfrm>
          <a:prstGeom prst="rect">
            <a:avLst/>
          </a:prstGeom>
          <a:solidFill>
            <a:srgbClr val="00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161520" y="141732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Sintonia — ITAE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61520" y="2057400"/>
            <a:ext cx="5029200" cy="68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AAD6D4"/>
                </a:solidFill>
                <a:latin typeface="Calibri Light"/>
              </a:rPr>
              <a:t>Comportamento conservador. Garantiu erro nulo e estabilidade absoluta (mp = 0%), mas resultou em um tempo de acomodação mais lento (ts = 118s).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0" y="98298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090A0"/>
                </a:solidFill>
                <a:latin typeface="Calibri Light"/>
              </a:rP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7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10287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7190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Melhorias Futuras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7282160" cy="254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5394960" cy="7772400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97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008B8B"/>
                </a:solidFill>
                <a:latin typeface="Calibr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606040"/>
            <a:ext cx="5029200" cy="254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Inserção de mais
métodos de sintonia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062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AAD6D4"/>
                </a:solidFill>
                <a:latin typeface="Calibri Light"/>
              </a:rPr>
              <a:t>Ampliar o repertório com CHR, Ziegler-Nichols e outros métodos clássicos.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371600"/>
            <a:ext cx="5394960" cy="7772400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463040"/>
            <a:ext cx="1097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008B8B"/>
                </a:solidFill>
                <a:latin typeface="Calibri"/>
              </a:rP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6520" y="2606040"/>
            <a:ext cx="5029200" cy="254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7432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Tela comparativa
de parâmetros PID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2062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AAD6D4"/>
                </a:solidFill>
                <a:latin typeface="Calibri Light"/>
              </a:rPr>
              <a:t>Exibir os resultados de todos os métodos lado a lado para facilitar a análise.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978640" y="1371600"/>
            <a:ext cx="5394960" cy="7772400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161520" y="1463040"/>
            <a:ext cx="1097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008B8B"/>
                </a:solidFill>
                <a:latin typeface="Calibri"/>
              </a:rPr>
              <a:t>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161520" y="2606040"/>
            <a:ext cx="5029200" cy="254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61520" y="27432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Cadastro
de usuário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0" y="42062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AAD6D4"/>
                </a:solidFill>
                <a:latin typeface="Calibri Light"/>
              </a:rPr>
              <a:t>Permitir que múltiplos usuários salvem e gerenciem seus datasets e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0" y="98298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090A0"/>
                </a:solidFill>
                <a:latin typeface="Calibri Light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7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00" cy="10287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20040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  <a:latin typeface="Calibri"/>
              </a:rPr>
              <a:t>Obrigado!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5120640"/>
            <a:ext cx="502920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5303520"/>
            <a:ext cx="5669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 Light"/>
              </a:rPr>
              <a:t>Eduardo Pereira Valias
Vinícius Telles e Silva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0"/>
            <a:ext cx="11887200" cy="10287000"/>
          </a:xfrm>
          <a:prstGeom prst="rect">
            <a:avLst/>
          </a:prstGeom>
          <a:solidFill>
            <a:srgbClr val="1B2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3840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AAD6D4"/>
                </a:solidFill>
                <a:latin typeface="Calibri Light"/>
              </a:rPr>
              <a:t>C213 — Sistemas de Controle Automático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Identificação de Processos &amp;
Sintonia de Controladores PID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0" y="98298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090A0"/>
                </a:solidFill>
                <a:latin typeface="Calibri Light"/>
              </a:rP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